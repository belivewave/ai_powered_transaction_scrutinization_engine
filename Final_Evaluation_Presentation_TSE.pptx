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FACULTY OF ENGINEERING • UNIVERSITY OF RUHUNA  |  EC5406: SOFTWARE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  <a:latin typeface="Segoe UI"/>
              </a:defRPr>
            </a:pPr>
            <a:r>
              <a:t>AI-Powered Transaction Scrutinization Engine</a:t>
            </a:r>
          </a:p>
          <a:p>
            <a:pPr>
              <a:defRPr sz="1400">
                <a:solidFill>
                  <a:srgbClr val="CBD5E1"/>
                </a:solidFill>
                <a:latin typeface="Segoe UI"/>
              </a:defRPr>
            </a:pPr>
            <a:r>
              <a:t>Sentinel Engine: Real-Time Hybrid ML Fraud Detection, Anomaly Scoring &amp; Regulatory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64008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38BDF8"/>
                </a:solidFill>
                <a:latin typeface="Segoe UI"/>
              </a:defRPr>
            </a:pPr>
            <a:r>
              <a:t>Industry Partner: Epic Lanka Pvt Ltd (Epic FraudGuard BRD)   |   Supervisor: Dr. Prabath Weerasinghe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2532888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MEMBER 01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Suwaathmi R.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EG/2022/5361</a:t>
            </a:r>
          </a:p>
          <a:p>
            <a:pPr>
              <a:spcBef>
                <a:spcPts val="1600"/>
              </a:spcBef>
              <a:defRPr sz="850" b="1">
                <a:solidFill>
                  <a:srgbClr val="38BDF8"/>
                </a:solidFill>
                <a:latin typeface="Arial"/>
              </a:defRPr>
            </a:pPr>
            <a:r>
              <a:t>PRIMARY ROLE: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Project Manager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Supporting: Frontend Architect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3108960"/>
            <a:ext cx="2532888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MEMBER 02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Rajaaei M.N.I.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EG/2022/5261</a:t>
            </a:r>
          </a:p>
          <a:p>
            <a:pPr>
              <a:spcBef>
                <a:spcPts val="1600"/>
              </a:spcBef>
              <a:defRPr sz="850" b="1">
                <a:solidFill>
                  <a:srgbClr val="34D399"/>
                </a:solidFill>
                <a:latin typeface="Arial"/>
              </a:defRPr>
            </a:pPr>
            <a:r>
              <a:t>PRIMARY ROLE: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AI/ML Researcher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Supporting: Backend 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3108960"/>
            <a:ext cx="2532888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900" b="1">
                <a:solidFill>
                  <a:srgbClr val="FBBF24"/>
                </a:solidFill>
                <a:latin typeface="Arial"/>
              </a:defRPr>
            </a:pPr>
            <a:r>
              <a:t>MEMBER 03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Nusair M.N.M.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EG/2022/5226</a:t>
            </a:r>
          </a:p>
          <a:p>
            <a:pPr>
              <a:spcBef>
                <a:spcPts val="1600"/>
              </a:spcBef>
              <a:defRPr sz="850" b="1">
                <a:solidFill>
                  <a:srgbClr val="FBBF24"/>
                </a:solidFill>
                <a:latin typeface="Arial"/>
              </a:defRPr>
            </a:pPr>
            <a:r>
              <a:t>PRIMARY ROLE: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Full-Stack Developer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Supporting: Project Management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3108960"/>
            <a:ext cx="2532888" cy="30175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74320"/>
          <a:lstStyle/>
          <a:p>
            <a:pPr algn="ctr">
              <a:defRPr sz="900" b="1">
                <a:solidFill>
                  <a:srgbClr val="38BDF8"/>
                </a:solidFill>
                <a:latin typeface="Arial"/>
              </a:defRPr>
            </a:pPr>
            <a:r>
              <a:t>MEMBER 04</a:t>
            </a:r>
          </a:p>
          <a:p>
            <a:pPr>
              <a:spcBef>
                <a:spcPts val="6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Tharukshan G.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EG/2022/5367</a:t>
            </a:r>
          </a:p>
          <a:p>
            <a:pPr>
              <a:spcBef>
                <a:spcPts val="1600"/>
              </a:spcBef>
              <a:defRPr sz="850" b="1">
                <a:solidFill>
                  <a:srgbClr val="38BDF8"/>
                </a:solidFill>
                <a:latin typeface="Arial"/>
              </a:defRPr>
            </a:pPr>
            <a:r>
              <a:t>PRIMARY ROLE:</a:t>
            </a:r>
          </a:p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Backend Developer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t>Supporting: AI/ML Engineer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CHALLENGE &amp; SYSTEM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1. Problem Statement &amp;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>
              <a:defRPr sz="1000" b="1">
                <a:solidFill>
                  <a:srgbClr val="F43F5E"/>
                </a:solidFill>
                <a:latin typeface="Arial"/>
              </a:defRPr>
            </a:pPr>
            <a:r>
              <a:t>THE PROBLEM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Legacy Rule Engine Failures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Static If-Else Limitations: </a:t>
            </a:r>
            <a:r>
              <a:rPr b="0">
                <a:solidFill>
                  <a:srgbClr val="CBD5E1"/>
                </a:solidFill>
              </a:rPr>
              <a:t>Traditional banking rules rely on fixed thresholds (e.g. amount &gt; $5,000) that modern fraud rings easily evade.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High False Positive Rates: </a:t>
            </a:r>
            <a:r>
              <a:rPr b="0">
                <a:solidFill>
                  <a:srgbClr val="CBD5E1"/>
                </a:solidFill>
              </a:rPr>
              <a:t>Up to 15-20% of blocked transactions are genuine customers, damaging brand trust and causing merchant revenue loss.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Emerging Attack Vectors: </a:t>
            </a:r>
            <a:r>
              <a:rPr b="0">
                <a:solidFill>
                  <a:srgbClr val="CBD5E1"/>
                </a:solidFill>
              </a:rPr>
              <a:t>Rapid cross-border card jumps, synthetic identities, velocity bursts, and card-not-present (CNP) e-commerce scams bypass static filters.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Slow Adaptation: </a:t>
            </a:r>
            <a:r>
              <a:rPr b="0">
                <a:solidFill>
                  <a:srgbClr val="CBD5E1"/>
                </a:solidFill>
              </a:rPr>
              <a:t>Manual rule updates take weeks, while fraudsters alter tactics 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OUR SOLUTION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Sentinel Hybrid Engine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Two-Stage Scrutiny: </a:t>
            </a:r>
            <a:r>
              <a:rPr b="0">
                <a:solidFill>
                  <a:srgbClr val="CBD5E1"/>
                </a:solidFill>
              </a:rPr>
              <a:t>Deterministic instant safety checks (card lock, whitelists) combined with dual AI inference.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ISO 8583 Field Extraction: </a:t>
            </a:r>
            <a:r>
              <a:rPr b="0">
                <a:solidFill>
                  <a:srgbClr val="CBD5E1"/>
                </a:solidFill>
              </a:rPr>
              <a:t>Analyzes standard banking protocol attributes (DE2, DE4, DE18, DE22, DE49) in real time.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Hybrid Machine Learning: </a:t>
            </a:r>
            <a:r>
              <a:rPr b="0">
                <a:solidFill>
                  <a:srgbClr val="CBD5E1"/>
                </a:solidFill>
              </a:rPr>
              <a:t>Blends Supervised XGBoost (known patterns) with Deep Autoencoder (unsupervised zero-day anomalies).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Explainable AI (XAI): </a:t>
            </a:r>
            <a:r>
              <a:rPr b="0">
                <a:solidFill>
                  <a:srgbClr val="CBD5E1"/>
                </a:solidFill>
              </a:rPr>
              <a:t>Provides SHAP-driven regulatory reason codes for full auditability and transparency.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74320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TARGET OBJECTIVES</a:t>
            </a:r>
          </a:p>
          <a:p>
            <a:pPr>
              <a:spcBef>
                <a:spcPts val="400"/>
              </a:spcBef>
              <a:defRPr sz="1600" b="1">
                <a:solidFill>
                  <a:srgbClr val="F8FAFC"/>
                </a:solidFill>
                <a:latin typeface="Segoe UI"/>
              </a:defRPr>
            </a:pPr>
            <a:r>
              <a:t>Engineering Deliverables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Sub-10ms Inference Latency: </a:t>
            </a:r>
            <a:r>
              <a:rPr b="0">
                <a:solidFill>
                  <a:srgbClr val="CBD5E1"/>
                </a:solidFill>
              </a:rPr>
              <a:t>Ultra-fast response for live authorization without customer checkout delay.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Gap-Free Decision Policy: </a:t>
            </a:r>
            <a:r>
              <a:rPr b="0">
                <a:solidFill>
                  <a:srgbClr val="CBD5E1"/>
                </a:solidFill>
              </a:rPr>
              <a:t>Deterministic continuous scoring mapping to Approve, Escalate, or Decline.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Multi-Layer Security: </a:t>
            </a:r>
            <a:r>
              <a:rPr b="0">
                <a:solidFill>
                  <a:srgbClr val="CBD5E1"/>
                </a:solidFill>
              </a:rPr>
              <a:t>JWT session auth, cardholder freeze toggle, and automated SMTP email security dispatch.</a:t>
            </a:r>
          </a:p>
          <a:p>
            <a:pPr>
              <a:spcBef>
                <a:spcPts val="800"/>
              </a:spcBef>
              <a:defRPr sz="1050" b="1">
                <a:solidFill>
                  <a:srgbClr val="F8FAFC"/>
                </a:solidFill>
                <a:latin typeface="Segoe UI"/>
              </a:defRPr>
            </a:pPr>
            <a:r>
              <a:t>Lightweight Cloud Deployment: </a:t>
            </a:r>
            <a:r>
              <a:rPr b="0">
                <a:solidFill>
                  <a:srgbClr val="CBD5E1"/>
                </a:solidFill>
              </a:rPr>
              <a:t>Zero-cold-start pure NumPy execution with scalable PostgreSQL &amp; Redis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END-TO-END ARCHITECTURAL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 System Architecture &amp; Data Engineering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53288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STAGE 01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Ingestion &amp; ISO 8583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FastAPI REST Gateway: </a:t>
            </a:r>
            <a:r>
              <a:rPr b="0">
                <a:solidFill>
                  <a:srgbClr val="CBD5E1"/>
                </a:solidFill>
              </a:rPr>
              <a:t>Receives real-time JSON/ISO 8583 payloads from POS terminals &amp; e-commerce.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ISO Protocol Fields: </a:t>
            </a:r>
            <a:r>
              <a:rPr b="0">
                <a:solidFill>
                  <a:srgbClr val="CBD5E1"/>
                </a:solidFill>
              </a:rPr>
              <a:t>Parses PAN (DE2), Amount (DE4), MCC (DE18), POS Mode (DE22), Currency (DE49), 3DS status.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Session Fingerprinting: </a:t>
            </a:r>
            <a:r>
              <a:rPr b="0">
                <a:solidFill>
                  <a:srgbClr val="CBD5E1"/>
                </a:solidFill>
              </a:rPr>
              <a:t>Extracts IP address, device fingerprints, and geolocation headers.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47288" y="1417320"/>
            <a:ext cx="253288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950" b="1">
                <a:solidFill>
                  <a:srgbClr val="F43F5E"/>
                </a:solidFill>
                <a:latin typeface="Arial"/>
              </a:defRPr>
            </a:pPr>
            <a:r>
              <a:t>STAGE 02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Deterministic Rules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Cardholder Lock Guard: </a:t>
            </a:r>
            <a:r>
              <a:rPr b="0">
                <a:solidFill>
                  <a:srgbClr val="CBD5E1"/>
                </a:solidFill>
              </a:rPr>
              <a:t>Instant check for user-frozen cards via mobile app; immediate zero-latency decline.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Country Blacklist: </a:t>
            </a:r>
            <a:r>
              <a:rPr b="0">
                <a:solidFill>
                  <a:srgbClr val="CBD5E1"/>
                </a:solidFill>
              </a:rPr>
              <a:t>Autonomous screening against high-risk jurisdictions.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Merchant Whitelist: </a:t>
            </a:r>
            <a:r>
              <a:rPr b="0">
                <a:solidFill>
                  <a:srgbClr val="CBD5E1"/>
                </a:solidFill>
              </a:rPr>
              <a:t>Bypasses trusted verified corporate partners to optimize system compute.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417320"/>
            <a:ext cx="253288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950" b="1">
                <a:solidFill>
                  <a:srgbClr val="FBBF24"/>
                </a:solidFill>
                <a:latin typeface="Arial"/>
              </a:defRPr>
            </a:pPr>
            <a:r>
              <a:t>STAGE 03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Feature Engineering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Velocity Cache (Redis): </a:t>
            </a:r>
            <a:r>
              <a:rPr b="0">
                <a:solidFill>
                  <a:srgbClr val="CBD5E1"/>
                </a:solidFill>
              </a:rPr>
              <a:t>Sliding-window counter for 1-hour transaction frequency per cardholder.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Geo-Velocity Tracking: </a:t>
            </a:r>
            <a:r>
              <a:rPr b="0">
                <a:solidFill>
                  <a:srgbClr val="CBD5E1"/>
                </a:solidFill>
              </a:rPr>
              <a:t>Detects impossible geographic jumps (e.g. Sri Lanka to Germany in 10 mins).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Categorical Encoding: </a:t>
            </a:r>
            <a:r>
              <a:rPr b="0">
                <a:solidFill>
                  <a:srgbClr val="CBD5E1"/>
                </a:solidFill>
              </a:rPr>
              <a:t>Pre-fitted LabelEncoders for MCC, POS Entry Mode, and Currency 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78824" y="1417320"/>
            <a:ext cx="253288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STAGE 04</a:t>
            </a:r>
          </a:p>
          <a:p>
            <a:pPr>
              <a:spcBef>
                <a:spcPts val="300"/>
              </a:spcBef>
              <a:defRPr sz="1500" b="1">
                <a:solidFill>
                  <a:srgbClr val="F8FAFC"/>
                </a:solidFill>
                <a:latin typeface="Segoe UI"/>
              </a:defRPr>
            </a:pPr>
            <a:r>
              <a:t>Database &amp; Analytics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Relational Storage: </a:t>
            </a:r>
            <a:r>
              <a:rPr b="0">
                <a:solidFill>
                  <a:srgbClr val="CBD5E1"/>
                </a:solidFill>
              </a:rPr>
              <a:t>PostgreSQL on Supabase logs immutable transactions, audit trails, and risk metrics.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Graph Ring Detection: </a:t>
            </a:r>
            <a:r>
              <a:rPr b="0">
                <a:solidFill>
                  <a:srgbClr val="CBD5E1"/>
                </a:solidFill>
              </a:rPr>
              <a:t>Neo4j graph database captures shared IPs, cards, and terminals across fraud syndicates.</a:t>
            </a:r>
          </a:p>
          <a:p>
            <a:pPr>
              <a:spcBef>
                <a:spcPts val="800"/>
              </a:spcBef>
              <a:defRPr sz="980" b="1">
                <a:solidFill>
                  <a:srgbClr val="F8FAFC"/>
                </a:solidFill>
                <a:latin typeface="Segoe UI"/>
              </a:defRPr>
            </a:pPr>
            <a:r>
              <a:t>Automated Alerts: </a:t>
            </a:r>
            <a:r>
              <a:rPr b="0">
                <a:solidFill>
                  <a:srgbClr val="CBD5E1"/>
                </a:solidFill>
              </a:rPr>
              <a:t>Background task triggers Gmail SMTP notifications for high-risk flags in &lt;2s.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DATA FLOW &amp; LATENCY BENCHMARK: SUB-10MS INLINE EXECUTION</a:t>
            </a:r>
          </a:p>
          <a:p>
            <a:pPr>
              <a:spcBef>
                <a:spcPts val="2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Client/POS Request  ➜  FastAPI  ➜  Redis Velocity Check  ➜  Hybrid ML (XGBoost + NumPy AE)  ➜  PostgreSQL Log  ➜  Decision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DUAL-MODEL INFERENCE &amp; DECISION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3. Hybrid AI/ML Engine &amp; Explainable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0156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SUPERVISED MODEL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XGBoost Classifier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Known Fraud Detection: </a:t>
            </a:r>
            <a:r>
              <a:rPr b="0">
                <a:solidFill>
                  <a:srgbClr val="CBD5E1"/>
                </a:solidFill>
              </a:rPr>
              <a:t>Trained on labeled historical banking datasets to detect established scam signatures.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Non-Linear Interactions: </a:t>
            </a:r>
            <a:r>
              <a:rPr b="0">
                <a:solidFill>
                  <a:srgbClr val="CBD5E1"/>
                </a:solidFill>
              </a:rPr>
              <a:t>Captures cross-feature correlations between Amount, Hour, Velocity, MCC, and POS Entry Mode.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High-Speed Inference: </a:t>
            </a:r>
            <a:r>
              <a:rPr b="0">
                <a:solidFill>
                  <a:srgbClr val="CBD5E1"/>
                </a:solidFill>
              </a:rPr>
              <a:t>Gradient boosting decision trees optimized for C-level speed; evaluates in ~3-7ms.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Probability Output: </a:t>
            </a:r>
            <a:r>
              <a:rPr b="0">
                <a:solidFill>
                  <a:srgbClr val="CBD5E1"/>
                </a:solidFill>
              </a:rPr>
              <a:t>Generates probability score P_XGB in range [0.0, 1.0].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17320"/>
            <a:ext cx="340156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UNSUPERVISED ANOMALY MODEL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Deep Autoencoder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Zero-Day Anomaly Detection: </a:t>
            </a:r>
            <a:r>
              <a:rPr b="0">
                <a:solidFill>
                  <a:srgbClr val="CBD5E1"/>
                </a:solidFill>
              </a:rPr>
              <a:t>Trained exclusively on legitimate spending profiles to learn normal behavior manifolds.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Reconstruction Error (MSE): </a:t>
            </a:r>
            <a:r>
              <a:rPr b="0">
                <a:solidFill>
                  <a:srgbClr val="CBD5E1"/>
                </a:solidFill>
              </a:rPr>
              <a:t>Deviations between input and reconstructed vectors reveal novel, unseen fraud attacks.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Pure NumPy Engine: </a:t>
            </a:r>
            <a:r>
              <a:rPr b="0">
                <a:solidFill>
                  <a:srgbClr val="CBD5E1"/>
                </a:solidFill>
              </a:rPr>
              <a:t>Keras neural weights extracted to pure NumPy. Completely eliminated TensorFlow dependency!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Ultra-Lightweight Cloud: </a:t>
            </a:r>
            <a:r>
              <a:rPr b="0">
                <a:solidFill>
                  <a:srgbClr val="CBD5E1"/>
                </a:solidFill>
              </a:rPr>
              <a:t>Reduced deployment memory footprint from 600MB+ to &lt;170MB RAM with 0 cold starts.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417320"/>
            <a:ext cx="3401568" cy="3977639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FBBF24"/>
                </a:solidFill>
                <a:latin typeface="Arial"/>
              </a:defRPr>
            </a:pPr>
            <a:r>
              <a:t>EXPLAINABLE DECISION ENGINE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Hybrid Scoring &amp; SHAP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Weighted Hybrid Formula: </a:t>
            </a:r>
            <a:r>
              <a:rPr b="0">
                <a:solidFill>
                  <a:srgbClr val="CBD5E1"/>
                </a:solidFill>
              </a:rPr>
              <a:t>Fraud Score = 0.65 × XGBoost + 0.35 × Autoencoder. Best of both paradigms.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Gap-Free Decision Policy: </a:t>
            </a:r>
            <a:r>
              <a:rPr b="0">
                <a:solidFill>
                  <a:srgbClr val="CBD5E1"/>
                </a:solidFill>
              </a:rPr>
              <a:t>Deterministic contiguous classification: Score &gt;= 0.70 ➜ Decline | 0.50-0.69 ➜ Escalate | &lt; 0.50 ➜ Approve.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SHAP TreeExplainer: </a:t>
            </a:r>
            <a:r>
              <a:rPr b="0">
                <a:solidFill>
                  <a:srgbClr val="CBD5E1"/>
                </a:solidFill>
              </a:rPr>
              <a:t>Computes local feature attributions in real-time, identifying exact root causes.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Standard Reason Codes: </a:t>
            </a:r>
            <a:r>
              <a:rPr b="0">
                <a:solidFill>
                  <a:srgbClr val="CBD5E1"/>
                </a:solidFill>
              </a:rPr>
              <a:t>Outputs human-readable tags: HIGH_FRAUD_SCORE, FOREIGN_TRANSACTION, HIGH_VELOCITY.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10698480" cy="86868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DECISION THRESHOLDS &amp; POLICY (CONFIGURABLE VIA ADMIN CONSOLE):</a:t>
            </a:r>
          </a:p>
          <a:p>
            <a:pPr>
              <a:spcBef>
                <a:spcPts val="200"/>
              </a:spcBef>
              <a:defRPr sz="1150" b="1">
                <a:solidFill>
                  <a:srgbClr val="F8FAFC"/>
                </a:solidFill>
                <a:latin typeface="Segoe UI"/>
              </a:defRPr>
            </a:pPr>
            <a:r>
              <a:t>Score &gt;= 0.70  ➜  DECLINE (High Risk)   |   0.50 &lt;= Score &lt; 0.70  ➜  ESCALATE (Manual Investigation)   |   Score &lt; 0.50  ➜  APPROVE (Authorized)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FULL STACK DELIVERABLES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4. Implementation, Live Demo UI &amp; System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FEATURE 01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Interactive Checkout (/demo)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Realistic Store Interface: </a:t>
            </a:r>
            <a:r>
              <a:rPr b="0">
                <a:solidFill>
                  <a:srgbClr val="CBD5E1"/>
                </a:solidFill>
              </a:rPr>
              <a:t>Clean e-commerce checkout (TechMart Store) simulating genuine customer payment flow.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Customer Account Selector: </a:t>
            </a:r>
            <a:r>
              <a:rPr b="0">
                <a:solidFill>
                  <a:srgbClr val="CBD5E1"/>
                </a:solidFill>
              </a:rPr>
              <a:t>Select from verified bank cardholder accounts (e.g. Inshaf Rajaei, Nusair, Demo User).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Card Lock Simulation: </a:t>
            </a:r>
            <a:r>
              <a:rPr b="0">
                <a:solidFill>
                  <a:srgbClr val="CBD5E1"/>
                </a:solidFill>
              </a:rPr>
              <a:t>Real-time toggle mimicking mobile banking app freeze; instantly verifies FROZEN_CARD rule.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Dynamic Receipts: </a:t>
            </a:r>
            <a:r>
              <a:rPr b="0">
                <a:solidFill>
                  <a:srgbClr val="CBD5E1"/>
                </a:solidFill>
              </a:rPr>
              <a:t>Displays real-time authorization status, auth codes, and fraud mitigation guidance upon payment completion.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34D399"/>
                </a:solidFill>
                <a:latin typeface="Arial"/>
              </a:defRPr>
            </a:pPr>
            <a:r>
              <a:t>FEATURE 02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Sentinel Admin Console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Executive Live Dashboard: </a:t>
            </a:r>
            <a:r>
              <a:rPr b="0">
                <a:solidFill>
                  <a:srgbClr val="CBD5E1"/>
                </a:solidFill>
              </a:rPr>
              <a:t>Real-time 2-second polling of transaction volume, fraud block rates, and risk indices.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High-Risk Explorer: </a:t>
            </a:r>
            <a:r>
              <a:rPr b="0">
                <a:solidFill>
                  <a:srgbClr val="CBD5E1"/>
                </a:solidFill>
              </a:rPr>
              <a:t>Detailed investigation table with SHAP reason codes, customer profiles, and audit exports.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Dynamic Policy Controls: </a:t>
            </a:r>
            <a:r>
              <a:rPr b="0">
                <a:solidFill>
                  <a:srgbClr val="CBD5E1"/>
                </a:solidFill>
              </a:rPr>
              <a:t>Adjust decline and escalate thresholds on the fly without system restart.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Email Dispatcher (Gmail SMTP): </a:t>
            </a:r>
            <a:r>
              <a:rPr b="0">
                <a:solidFill>
                  <a:srgbClr val="CBD5E1"/>
                </a:solidFill>
              </a:rPr>
              <a:t>Instant institutional email notifications triggered in &lt;2s for high-risk alerts.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417320"/>
            <a:ext cx="3401568" cy="4892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50" b="1">
                <a:solidFill>
                  <a:srgbClr val="FBBF24"/>
                </a:solidFill>
                <a:latin typeface="Arial"/>
              </a:defRPr>
            </a:pPr>
            <a:r>
              <a:t>EVALUATION</a:t>
            </a:r>
          </a:p>
          <a:p>
            <a:pPr>
              <a:defRPr sz="1600" b="1">
                <a:solidFill>
                  <a:srgbClr val="F8FAFC"/>
                </a:solidFill>
                <a:latin typeface="Segoe UI"/>
              </a:defRPr>
            </a:pPr>
            <a:r>
              <a:t>System Benchmarks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Sub-10ms Inference Speed: </a:t>
            </a:r>
            <a:r>
              <a:rPr b="0">
                <a:solidFill>
                  <a:srgbClr val="CBD5E1"/>
                </a:solidFill>
              </a:rPr>
              <a:t>Inline hybrid prediction executes in ~5-8ms, comfortably beating standard 100ms payment SLA.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High Detection Accuracy: </a:t>
            </a:r>
            <a:r>
              <a:rPr b="0">
                <a:solidFill>
                  <a:srgbClr val="CBD5E1"/>
                </a:solidFill>
              </a:rPr>
              <a:t>Superior precision &amp; recall compared to legacy baseline; drastically reduces false declines.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Cloud Production Status: </a:t>
            </a:r>
            <a:r>
              <a:rPr b="0">
                <a:solidFill>
                  <a:srgbClr val="CBD5E1"/>
                </a:solidFill>
              </a:rPr>
              <a:t>Fully deployed and operational on Vercel (Frontend) + Cloudflare/Render (Backend) + Supabase (PostgreSQL).</a:t>
            </a:r>
          </a:p>
          <a:p>
            <a:pPr>
              <a:spcBef>
                <a:spcPts val="7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Zero Single Point of Failure: </a:t>
            </a:r>
            <a:r>
              <a:rPr b="0">
                <a:solidFill>
                  <a:srgbClr val="CBD5E1"/>
                </a:solidFill>
              </a:rPr>
              <a:t>Redis cache and Neo4j graph services degrade gracefully without halting transaction authorization.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PROJECT CONCLUSION &amp; 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Final Evaluation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3886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38BDF8"/>
                </a:solidFill>
                <a:latin typeface="Arial"/>
              </a:defRPr>
            </a:pPr>
            <a:r>
              <a:t>KEY PROJECT ACHIEVEMENTS</a:t>
            </a:r>
          </a:p>
          <a:p>
            <a:pPr>
              <a:spcBef>
                <a:spcPts val="2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Enterprise Delivery &amp; Impact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Full BRD Fulfillment: </a:t>
            </a:r>
            <a:r>
              <a:rPr b="0">
                <a:solidFill>
                  <a:srgbClr val="CBD5E1"/>
                </a:solidFill>
              </a:rPr>
              <a:t>Successfully delivered all requirements from Epic Lanka's FraudGuard specification.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ISO 8583 Banking Integration: </a:t>
            </a:r>
            <a:r>
              <a:rPr b="0">
                <a:solidFill>
                  <a:srgbClr val="CBD5E1"/>
                </a:solidFill>
              </a:rPr>
              <a:t>Production-compliant transaction parsing with field-level scrutiny.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Innovative NumPy Autoencoder: </a:t>
            </a:r>
            <a:r>
              <a:rPr b="0">
                <a:solidFill>
                  <a:srgbClr val="CBD5E1"/>
                </a:solidFill>
              </a:rPr>
              <a:t>Engineered a TensorFlow-free neural inference engine tailored for lightweight cloud scaling.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Explainable &amp; Auditable: </a:t>
            </a:r>
            <a:r>
              <a:rPr b="0">
                <a:solidFill>
                  <a:srgbClr val="CBD5E1"/>
                </a:solidFill>
              </a:rPr>
              <a:t>SHAP-backed transparency ensuring complete regulatory compliance.</a:t>
            </a:r>
          </a:p>
          <a:p>
            <a:pPr>
              <a:spcBef>
                <a:spcPts val="6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Future Roadmap: </a:t>
            </a:r>
            <a:r>
              <a:rPr b="0">
                <a:solidFill>
                  <a:srgbClr val="CBD5E1"/>
                </a:solidFill>
              </a:rPr>
              <a:t>Graph Neural Networks (GNN) on Neo4j for syndicate tracking and distributed Kafka streaming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5303520" cy="38862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000" b="1">
                <a:solidFill>
                  <a:srgbClr val="34D399"/>
                </a:solidFill>
                <a:latin typeface="Arial"/>
              </a:defRPr>
            </a:pPr>
            <a:r>
              <a:t>ACKNOWLEDGMENTS &amp; LINKS</a:t>
            </a:r>
          </a:p>
          <a:p>
            <a:pPr>
              <a:spcBef>
                <a:spcPts val="200"/>
              </a:spcBef>
              <a:defRPr sz="1700" b="1">
                <a:solidFill>
                  <a:srgbClr val="F8FAFC"/>
                </a:solidFill>
                <a:latin typeface="Segoe UI"/>
              </a:defRPr>
            </a:pPr>
            <a:r>
              <a:t>Project Supervision &amp; Access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Project Supervisor: </a:t>
            </a:r>
            <a:r>
              <a:rPr b="0">
                <a:solidFill>
                  <a:srgbClr val="CBD5E1"/>
                </a:solidFill>
              </a:rPr>
              <a:t>Dr. Prabath Weerasinghe (weera@eie.ruh.ac.lk), Department of Electrical &amp; Information Engineering, University of Ruhuna.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Industry Partner Mentors: </a:t>
            </a:r>
            <a:r>
              <a:rPr b="0">
                <a:solidFill>
                  <a:srgbClr val="CBD5E1"/>
                </a:solidFill>
              </a:rPr>
              <a:t>Epic Lanka Pvt Ltd (Amila Perera, Sachin Gimhan, Aakif Hifaaz).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Live Interactive Checkout: </a:t>
            </a:r>
            <a:r>
              <a:rPr b="0">
                <a:solidFill>
                  <a:srgbClr val="38BDF8"/>
                </a:solidFill>
              </a:rPr>
              <a:t>https://sentinalenginesec.vercel.app/demo</a:t>
            </a:r>
          </a:p>
          <a:p>
            <a:pPr>
              <a:spcBef>
                <a:spcPts val="800"/>
              </a:spcBef>
              <a:defRPr sz="1000" b="1">
                <a:solidFill>
                  <a:srgbClr val="F8FAFC"/>
                </a:solidFill>
                <a:latin typeface="Segoe UI"/>
              </a:defRPr>
            </a:pPr>
            <a:r>
              <a:t>Live Security Dashboard: </a:t>
            </a:r>
            <a:r>
              <a:rPr b="0">
                <a:solidFill>
                  <a:srgbClr val="38BDF8"/>
                </a:solidFill>
              </a:rPr>
              <a:t>https://sentinalenginesec.vercel.app/login (client@sentinel.com / Sentinel@2026)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486400"/>
            <a:ext cx="10698480" cy="960120"/>
          </a:xfrm>
          <a:prstGeom prst="roundRect">
            <a:avLst/>
          </a:prstGeom>
          <a:solidFill>
            <a:srgbClr val="18212F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600" b="1">
                <a:solidFill>
                  <a:srgbClr val="F8FAFC"/>
                </a:solidFill>
                <a:latin typeface="Segoe UI"/>
              </a:defRPr>
            </a:pPr>
            <a:r>
              <a:t>THANK YOU! WE WELCOME YOUR QUESTIONS &amp; DISCUSSION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  <a:latin typeface="Arial"/>
              </a:defRPr>
            </a:pPr>
            <a:r>
              <a:t>Team Members: Suwaathmi R. (EG/2022/5361)  •  Rajaaei M.N.I. (EG/2022/5261)  •  Nusair M.N.M. (EG/2022/5226)  •  Tharukshan G. (EG/2022/5367)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